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86" r:id="rId3"/>
    <p:sldId id="287" r:id="rId4"/>
    <p:sldId id="278" r:id="rId5"/>
    <p:sldId id="257" r:id="rId6"/>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96" d="100"/>
          <a:sy n="96" d="100"/>
        </p:scale>
        <p:origin x="1066" y="77"/>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tableStyles" Target="tableStyle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hyperlink" Target="http://www.klh.edu.in/" TargetMode="Externa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2718" y="120679"/>
            <a:ext cx="7772400" cy="1201361"/>
          </a:xfrm>
        </p:spPr>
        <p:txBody>
          <a:bodyPr>
            <a:normAutofit fontScale="90000"/>
          </a:bodyPr>
          <a:lstStyle/>
          <a:p>
            <a:pPr>
              <a:defRPr/>
            </a:pPr>
            <a:br>
              <a:rPr lang="en-US" sz="1800" b="0" dirty="0">
                <a:solidFill>
                  <a:schemeClr val="tx1"/>
                </a:solidFill>
                <a:latin typeface="Times New Roman" panose="02020603050405020304" pitchFamily="18" charset="0"/>
                <a:cs typeface="Times New Roman" panose="02020603050405020304" pitchFamily="18" charset="0"/>
              </a:rPr>
            </a:br>
            <a:r>
              <a:rPr lang="en-US" sz="2200" b="0" dirty="0">
                <a:solidFill>
                  <a:schemeClr val="tx1"/>
                </a:solidFill>
                <a:latin typeface="Times New Roman" panose="02020603050405020304" pitchFamily="18" charset="0"/>
                <a:cs typeface="Times New Roman" panose="02020603050405020304" pitchFamily="18" charset="0"/>
              </a:rPr>
              <a:t>A</a:t>
            </a:r>
            <a:br>
              <a:rPr lang="en-US" sz="1800" b="0" dirty="0">
                <a:solidFill>
                  <a:schemeClr val="tx1"/>
                </a:solidFill>
                <a:latin typeface="Times New Roman" panose="02020603050405020304" pitchFamily="18" charset="0"/>
                <a:cs typeface="Times New Roman" panose="02020603050405020304" pitchFamily="18" charset="0"/>
              </a:rPr>
            </a:br>
            <a:r>
              <a:rPr lang="en-US" sz="3600" b="1" dirty="0">
                <a:solidFill>
                  <a:srgbClr val="FF0000"/>
                </a:solidFill>
                <a:latin typeface="Times New Roman" panose="02020603050405020304" pitchFamily="18" charset="0"/>
                <a:cs typeface="Times New Roman" panose="02020603050405020304" pitchFamily="18" charset="0"/>
              </a:rPr>
              <a:t>Project Review Meeting-1  </a:t>
            </a:r>
            <a:br>
              <a:rPr lang="en-US" sz="2200" dirty="0">
                <a:latin typeface="Times New Roman" panose="02020603050405020304" pitchFamily="18" charset="0"/>
                <a:cs typeface="Times New Roman" panose="02020603050405020304" pitchFamily="18" charset="0"/>
              </a:rPr>
            </a:br>
            <a:r>
              <a:rPr lang="en-US" sz="2200" b="0" dirty="0">
                <a:solidFill>
                  <a:schemeClr val="tx1"/>
                </a:solidFill>
                <a:latin typeface="Times New Roman" panose="02020603050405020304" pitchFamily="18" charset="0"/>
                <a:cs typeface="Times New Roman" panose="02020603050405020304" pitchFamily="18" charset="0"/>
              </a:rPr>
              <a:t> on</a:t>
            </a:r>
            <a:br>
              <a:rPr lang="en-US" sz="2200" b="0" dirty="0">
                <a:solidFill>
                  <a:schemeClr val="tx1"/>
                </a:solidFill>
                <a:latin typeface="Times New Roman" panose="02020603050405020304" pitchFamily="18" charset="0"/>
                <a:cs typeface="Times New Roman" panose="02020603050405020304" pitchFamily="18" charset="0"/>
              </a:rPr>
            </a:br>
            <a:r>
              <a:rPr lang="en-US" sz="2200" b="0" dirty="0">
                <a:solidFill>
                  <a:schemeClr val="tx1"/>
                </a:solidFill>
                <a:latin typeface="Times New Roman" panose="02020603050405020304" pitchFamily="18" charset="0"/>
                <a:cs typeface="Times New Roman" panose="02020603050405020304" pitchFamily="18" charset="0"/>
              </a:rPr>
              <a:t>Music Analytics Data Platform</a:t>
            </a:r>
            <a:endParaRPr lang="en-US" sz="22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349818" y="1524000"/>
            <a:ext cx="8458200" cy="2895600"/>
          </a:xfrm>
        </p:spPr>
        <p:txBody>
          <a:bodyPr>
            <a:normAutofit fontScale="47500" lnSpcReduction="20000"/>
          </a:bodyPr>
          <a:lstStyle/>
          <a:p>
            <a:pPr marR="0" algn="ctr" eaLnBrk="1" hangingPunct="1">
              <a:lnSpc>
                <a:spcPct val="80000"/>
              </a:lnSpc>
              <a:defRPr/>
            </a:pPr>
            <a:endParaRPr lang="en-US" sz="26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b="1" dirty="0">
                <a:solidFill>
                  <a:srgbClr val="00B0F0"/>
                </a:solidFill>
                <a:latin typeface="Times New Roman" panose="02020603050405020304" pitchFamily="18" charset="0"/>
                <a:cs typeface="Times New Roman" panose="02020603050405020304" pitchFamily="18" charset="0"/>
              </a:rPr>
              <a:t>By</a:t>
            </a:r>
            <a:endParaRPr lang="en-US"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3600" b="1" dirty="0">
              <a:solidFill>
                <a:srgbClr val="00B0F0"/>
              </a:solidFill>
              <a:latin typeface="Times New Roman" panose="02020603050405020304" pitchFamily="18" charset="0"/>
              <a:cs typeface="Times New Roman" panose="02020603050405020304" pitchFamily="18" charset="0"/>
            </a:endParaRPr>
          </a:p>
          <a:p>
            <a:pPr>
              <a:lnSpc>
                <a:spcPct val="80000"/>
              </a:lnSpc>
              <a:defRPr/>
            </a:pPr>
            <a:r>
              <a:rPr lang="en-US" sz="3600" b="1" dirty="0">
                <a:solidFill>
                  <a:srgbClr val="00B0F0"/>
                </a:solidFill>
                <a:latin typeface="Times New Roman" panose="02020603050405020304" pitchFamily="18" charset="0"/>
                <a:cs typeface="Times New Roman" panose="02020603050405020304" pitchFamily="18" charset="0"/>
              </a:rPr>
              <a:t>Team Number: 3</a:t>
            </a:r>
            <a:endParaRPr lang="en-US" sz="36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3300" dirty="0">
              <a:solidFill>
                <a:srgbClr val="0D0D0D"/>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1300" b="1" dirty="0">
              <a:solidFill>
                <a:srgbClr val="FF000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GB" sz="3300" b="1" i="1" dirty="0">
                <a:solidFill>
                  <a:srgbClr val="FF0000"/>
                </a:solidFill>
                <a:effectLst/>
                <a:latin typeface="Times New Roman" panose="02020603050405020304" pitchFamily="18" charset="0"/>
                <a:ea typeface="Times New Roman" panose="02020603050405020304" pitchFamily="18" charset="0"/>
              </a:rPr>
              <a:t>Under the guidance of </a:t>
            </a:r>
            <a:endParaRPr lang="en-GB" sz="3300" b="1" i="1" dirty="0">
              <a:solidFill>
                <a:srgbClr val="FF0000"/>
              </a:solidFill>
              <a:effectLst/>
              <a:latin typeface="Times New Roman" panose="02020603050405020304" pitchFamily="18" charset="0"/>
              <a:ea typeface="Times New Roman" panose="02020603050405020304" pitchFamily="18" charset="0"/>
            </a:endParaRPr>
          </a:p>
          <a:p>
            <a:pPr marR="0" algn="ctr" eaLnBrk="1" hangingPunct="1">
              <a:lnSpc>
                <a:spcPct val="80000"/>
              </a:lnSpc>
              <a:defRPr/>
            </a:pPr>
            <a:endParaRPr lang="en-US" sz="2400" dirty="0">
              <a:solidFill>
                <a:srgbClr val="0D0D0D"/>
              </a:solidFill>
              <a:latin typeface="Times New Roman" panose="02020603050405020304" pitchFamily="18" charset="0"/>
              <a:cs typeface="Times New Roman" panose="02020603050405020304" pitchFamily="18" charset="0"/>
            </a:endParaRPr>
          </a:p>
          <a:p>
            <a:pPr>
              <a:lnSpc>
                <a:spcPct val="80000"/>
              </a:lnSpc>
              <a:defRPr/>
            </a:pPr>
            <a:r>
              <a:rPr lang="en-GB" sz="4900" dirty="0">
                <a:solidFill>
                  <a:srgbClr val="FF0000"/>
                </a:solidFill>
                <a:latin typeface="Times New Roman" panose="02020603050405020304" pitchFamily="18" charset="0"/>
                <a:cs typeface="Times New Roman" panose="02020603050405020304" pitchFamily="18" charset="0"/>
              </a:rPr>
              <a:t>“Dr. Shirisha”</a:t>
            </a:r>
            <a:endParaRPr lang="en-IN" sz="4900" dirty="0">
              <a:solidFill>
                <a:srgbClr val="FF0000"/>
              </a:solidFill>
              <a:latin typeface="Times New Roman" panose="02020603050405020304" pitchFamily="18" charset="0"/>
              <a:cs typeface="Times New Roman" panose="02020603050405020304" pitchFamily="18" charset="0"/>
            </a:endParaRPr>
          </a:p>
          <a:p>
            <a:pPr>
              <a:lnSpc>
                <a:spcPct val="80000"/>
              </a:lnSpc>
              <a:defRPr/>
            </a:pPr>
            <a:endParaRPr lang="en-US" sz="4500" b="1" dirty="0">
              <a:solidFill>
                <a:srgbClr val="C0000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4500" b="1" dirty="0">
                <a:solidFill>
                  <a:srgbClr val="C00000"/>
                </a:solidFill>
                <a:latin typeface="Times New Roman" panose="02020603050405020304" pitchFamily="18" charset="0"/>
                <a:cs typeface="Times New Roman" panose="02020603050405020304" pitchFamily="18" charset="0"/>
              </a:rPr>
              <a:t>Associate Professor </a:t>
            </a:r>
            <a:endParaRPr lang="en-US" sz="4500" b="1" dirty="0">
              <a:solidFill>
                <a:srgbClr val="C00000"/>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2400" b="1" dirty="0">
              <a:solidFill>
                <a:srgbClr val="0070C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4400" b="1" dirty="0">
                <a:solidFill>
                  <a:srgbClr val="0070C0"/>
                </a:solidFill>
                <a:latin typeface="Times New Roman" panose="02020603050405020304" pitchFamily="18" charset="0"/>
                <a:cs typeface="Times New Roman" panose="02020603050405020304" pitchFamily="18" charset="0"/>
              </a:rPr>
              <a:t>Department of Computer Science and Engineering</a:t>
            </a:r>
            <a:endParaRPr lang="en-US" sz="4400" b="1" dirty="0">
              <a:solidFill>
                <a:srgbClr val="0070C0"/>
              </a:solidFill>
              <a:latin typeface="Times New Roman" panose="02020603050405020304" pitchFamily="18" charset="0"/>
              <a:cs typeface="Times New Roman" panose="02020603050405020304" pitchFamily="18" charset="0"/>
            </a:endParaRPr>
          </a:p>
          <a:p>
            <a:pPr marR="0" eaLnBrk="1" hangingPunct="1">
              <a:lnSpc>
                <a:spcPct val="80000"/>
              </a:lnSpc>
              <a:defRPr/>
            </a:pPr>
            <a:r>
              <a:rPr lang="en-US" sz="2400" b="1" dirty="0">
                <a:solidFill>
                  <a:srgbClr val="0D0D0D"/>
                </a:solidFill>
                <a:latin typeface="Times New Roman" panose="02020603050405020304" pitchFamily="18" charset="0"/>
                <a:cs typeface="Times New Roman" panose="02020603050405020304" pitchFamily="18" charset="0"/>
              </a:rPr>
              <a:t>                                                </a:t>
            </a:r>
            <a:r>
              <a:rPr lang="en-US" sz="2400" dirty="0">
                <a:solidFill>
                  <a:srgbClr val="0D0D0D"/>
                </a:solidFill>
                <a:latin typeface="Times New Roman" panose="02020603050405020304" pitchFamily="18" charset="0"/>
                <a:cs typeface="Times New Roman" panose="02020603050405020304" pitchFamily="18" charset="0"/>
              </a:rPr>
              <a:t>                                                                          </a:t>
            </a:r>
            <a:endParaRPr lang="en-US" sz="2400" dirty="0">
              <a:solidFill>
                <a:srgbClr val="0D0D0D"/>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349155" y="525780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Koneru Lakshmaiah Education Foundation</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b="1" kern="100" dirty="0" err="1">
                <a:effectLst/>
                <a:latin typeface="Times New Roman" panose="02020603050405020304" pitchFamily="18" charset="0"/>
                <a:ea typeface="Times New Roman" panose="02020603050405020304" pitchFamily="18" charset="0"/>
                <a:cs typeface="Times New Roman" panose="02020603050405020304" pitchFamily="18" charset="0"/>
              </a:rPr>
              <a:t>estd</a:t>
            </a: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Road,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dirty="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1"/>
              </a:rPr>
              <a:t>www.klh.edu.in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1214" y="4080953"/>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457200" y="1676401"/>
          <a:ext cx="8229600" cy="4419602"/>
        </p:xfrm>
        <a:graphic>
          <a:graphicData uri="http://schemas.openxmlformats.org/drawingml/2006/table">
            <a:tbl>
              <a:tblPr firstRow="1" firstCol="1" bandRow="1">
                <a:tableStyleId>{5C22544A-7EE6-4342-B048-85BDC9FD1C3A}</a:tableStyleId>
              </a:tblPr>
              <a:tblGrid>
                <a:gridCol w="1729530"/>
                <a:gridCol w="2275216"/>
                <a:gridCol w="4224854"/>
              </a:tblGrid>
              <a:tr h="2166200">
                <a:tc>
                  <a:txBody>
                    <a:bodyPr/>
                    <a:lstStyle/>
                    <a:p>
                      <a:pPr algn="ctr">
                        <a:lnSpc>
                          <a:spcPct val="107000"/>
                        </a:lnSpc>
                        <a:spcAft>
                          <a:spcPts val="800"/>
                        </a:spcAft>
                        <a:buNone/>
                      </a:pPr>
                      <a:endParaRPr lang="en-IN" sz="2100" kern="100" dirty="0">
                        <a:effectLst/>
                      </a:endParaRPr>
                    </a:p>
                    <a:p>
                      <a:pPr algn="ctr">
                        <a:lnSpc>
                          <a:spcPct val="107000"/>
                        </a:lnSpc>
                        <a:spcAft>
                          <a:spcPts val="800"/>
                        </a:spcAft>
                        <a:buNone/>
                      </a:pPr>
                      <a:r>
                        <a:rPr lang="en-IN" sz="2100" kern="100" dirty="0">
                          <a:effectLst/>
                        </a:rPr>
                        <a:t>TITLE OF THE PROJECT</a:t>
                      </a:r>
                      <a:endParaRPr lang="en-IN" sz="2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gridSpan="2">
                  <a:txBody>
                    <a:bodyPr/>
                    <a:lstStyle/>
                    <a:p>
                      <a:pPr algn="ctr">
                        <a:lnSpc>
                          <a:spcPct val="107000"/>
                        </a:lnSpc>
                        <a:spcAft>
                          <a:spcPts val="800"/>
                        </a:spcAft>
                        <a:buNone/>
                      </a:pPr>
                      <a:r>
                        <a:rPr lang="en-IN" sz="2200" kern="100" dirty="0">
                          <a:effectLst/>
                        </a:rPr>
                        <a:t> </a:t>
                      </a:r>
                      <a:endParaRPr lang="en-IN" sz="2200" kern="100" dirty="0">
                        <a:effectLst/>
                      </a:endParaRPr>
                    </a:p>
                    <a:p>
                      <a:pPr algn="ctr">
                        <a:lnSpc>
                          <a:spcPct val="107000"/>
                        </a:lnSpc>
                        <a:spcAft>
                          <a:spcPts val="800"/>
                        </a:spcAft>
                        <a:buNone/>
                      </a:pPr>
                      <a:r>
                        <a:rPr lang="en-US" sz="2200" dirty="0">
                          <a:latin typeface="Times New Roman" panose="02020603050405020304" pitchFamily="18" charset="0"/>
                          <a:cs typeface="Times New Roman" panose="02020603050405020304" pitchFamily="18" charset="0"/>
                        </a:rPr>
                        <a:t>Music Analytics Data Platform</a:t>
                      </a:r>
                      <a:r>
                        <a:rPr lang="en-IN" sz="2200" kern="100" dirty="0">
                          <a:effectLst/>
                        </a:rPr>
                        <a:t> </a:t>
                      </a:r>
                      <a:endParaRPr lang="en-IN" sz="2200" kern="100" dirty="0">
                        <a:effectLst/>
                      </a:endParaRPr>
                    </a:p>
                    <a:p>
                      <a:pPr algn="ctr">
                        <a:lnSpc>
                          <a:spcPct val="107000"/>
                        </a:lnSpc>
                        <a:spcAft>
                          <a:spcPts val="800"/>
                        </a:spcAft>
                        <a:buNone/>
                      </a:pPr>
                      <a:r>
                        <a:rPr lang="en-IN" sz="2200" kern="100" dirty="0">
                          <a:effectLst/>
                        </a:rPr>
                        <a:t> </a:t>
                      </a:r>
                      <a:endParaRPr lang="en-IN" sz="22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hMerge="1">
                  <a:tcPr/>
                </a:tc>
              </a:tr>
              <a:tr h="375567">
                <a:tc>
                  <a:txBody>
                    <a:bodyPr/>
                    <a:lstStyle/>
                    <a:p>
                      <a:pPr algn="ctr">
                        <a:lnSpc>
                          <a:spcPct val="107000"/>
                        </a:lnSpc>
                        <a:spcAft>
                          <a:spcPts val="800"/>
                        </a:spcAft>
                        <a:buNone/>
                      </a:pPr>
                      <a:r>
                        <a:rPr lang="en-IN" sz="1200" kern="100">
                          <a:effectLst/>
                        </a:rPr>
                        <a:t>S. No.</a:t>
                      </a:r>
                      <a:endParaRPr lang="en-IN"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buNone/>
                      </a:pPr>
                      <a:r>
                        <a:rPr lang="en-IN" sz="1200" kern="100">
                          <a:effectLst/>
                        </a:rPr>
                        <a:t>University ID</a:t>
                      </a:r>
                      <a:endParaRPr lang="en-IN"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buNone/>
                      </a:pPr>
                      <a:r>
                        <a:rPr lang="en-IN" sz="1200" kern="100">
                          <a:effectLst/>
                        </a:rPr>
                        <a:t>Name</a:t>
                      </a:r>
                      <a:endParaRPr lang="en-IN"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r>
              <a:tr h="375567">
                <a:tc>
                  <a:txBody>
                    <a:bodyPr/>
                    <a:lstStyle/>
                    <a:p>
                      <a:pPr algn="ctr">
                        <a:lnSpc>
                          <a:spcPct val="107000"/>
                        </a:lnSpc>
                        <a:spcAft>
                          <a:spcPts val="800"/>
                        </a:spcAft>
                        <a:buNone/>
                      </a:pPr>
                      <a:r>
                        <a:rPr lang="en-IN" sz="1200" kern="100">
                          <a:effectLst/>
                        </a:rPr>
                        <a:t>1</a:t>
                      </a:r>
                      <a:endParaRPr lang="en-IN"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buNone/>
                      </a:pPr>
                      <a:r>
                        <a:rPr lang="en-IN" sz="1200" kern="100" dirty="0">
                          <a:effectLst/>
                        </a:rPr>
                        <a:t>2420030</a:t>
                      </a:r>
                      <a:r>
                        <a:rPr lang="en-US" altLang="en-IN" sz="1200" kern="100" dirty="0">
                          <a:effectLst/>
                        </a:rPr>
                        <a:t>133</a:t>
                      </a:r>
                      <a:endParaRPr lang="en-US" altLang="en-IN" sz="12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buNone/>
                      </a:pPr>
                      <a:r>
                        <a:rPr lang="en-US" altLang="en-IN" sz="1200" kern="100" dirty="0" err="1">
                          <a:effectLst/>
                        </a:rPr>
                        <a:t>Y. Sai Charan Reddy</a:t>
                      </a:r>
                      <a:endParaRPr lang="en-US" altLang="en-IN"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r>
              <a:tr h="375567">
                <a:tc>
                  <a:txBody>
                    <a:bodyPr/>
                    <a:lstStyle/>
                    <a:p>
                      <a:pPr algn="ctr">
                        <a:lnSpc>
                          <a:spcPct val="107000"/>
                        </a:lnSpc>
                        <a:spcAft>
                          <a:spcPts val="800"/>
                        </a:spcAft>
                        <a:buNone/>
                      </a:pPr>
                      <a:r>
                        <a:rPr lang="en-IN" sz="1200" kern="100">
                          <a:effectLst/>
                        </a:rPr>
                        <a:t>2</a:t>
                      </a:r>
                      <a:endParaRPr lang="en-IN"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buNone/>
                      </a:pPr>
                      <a:r>
                        <a:rPr lang="en-IN" sz="1200" kern="100" dirty="0">
                          <a:effectLst/>
                        </a:rPr>
                        <a:t>2420030</a:t>
                      </a:r>
                      <a:r>
                        <a:rPr lang="en-US" altLang="en-IN" sz="1200" kern="100" dirty="0">
                          <a:effectLst/>
                        </a:rPr>
                        <a:t>135</a:t>
                      </a:r>
                      <a:endParaRPr lang="en-US" altLang="en-IN" sz="12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buNone/>
                      </a:pPr>
                      <a:r>
                        <a:rPr lang="en-US" altLang="en-IN" sz="1200" kern="100" dirty="0">
                          <a:effectLst/>
                          <a:latin typeface="Calibri" panose="020F0502020204030204" pitchFamily="34" charset="0"/>
                          <a:ea typeface="Calibri" panose="020F0502020204030204" pitchFamily="34" charset="0"/>
                          <a:cs typeface="Arial" panose="020B0604020202020204" pitchFamily="34" charset="0"/>
                        </a:rPr>
                        <a:t>Bhuvan Surisetti</a:t>
                      </a:r>
                      <a:endParaRPr lang="en-US" altLang="en-IN" sz="12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r>
              <a:tr h="375567">
                <a:tc>
                  <a:txBody>
                    <a:bodyPr/>
                    <a:lstStyle/>
                    <a:p>
                      <a:pPr algn="ctr">
                        <a:lnSpc>
                          <a:spcPct val="107000"/>
                        </a:lnSpc>
                        <a:spcAft>
                          <a:spcPts val="800"/>
                        </a:spcAft>
                        <a:buNone/>
                      </a:pPr>
                      <a:r>
                        <a:rPr lang="en-IN" sz="1200" kern="100">
                          <a:effectLst/>
                        </a:rPr>
                        <a:t>3</a:t>
                      </a:r>
                      <a:endParaRPr lang="en-IN"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buNone/>
                      </a:pPr>
                      <a:r>
                        <a:rPr lang="en-IN" sz="1200" kern="100" dirty="0">
                          <a:effectLst/>
                        </a:rPr>
                        <a:t>2420030</a:t>
                      </a:r>
                      <a:r>
                        <a:rPr lang="en-US" altLang="en-IN" sz="1200" kern="100" dirty="0">
                          <a:effectLst/>
                        </a:rPr>
                        <a:t>644</a:t>
                      </a:r>
                      <a:endParaRPr lang="en-US" altLang="en-IN" sz="12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buNone/>
                      </a:pPr>
                      <a:r>
                        <a:rPr lang="en-US" altLang="en-IN" sz="1200" kern="100" dirty="0">
                          <a:effectLst/>
                          <a:latin typeface="Calibri" panose="020F0502020204030204" pitchFamily="34" charset="0"/>
                          <a:ea typeface="Calibri" panose="020F0502020204030204" pitchFamily="34" charset="0"/>
                          <a:cs typeface="Arial" panose="020B0604020202020204" pitchFamily="34" charset="0"/>
                        </a:rPr>
                        <a:t>Eshwar .M</a:t>
                      </a:r>
                      <a:endParaRPr lang="en-US" altLang="en-IN" sz="12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r>
              <a:tr h="375567">
                <a:tc>
                  <a:txBody>
                    <a:bodyPr/>
                    <a:lstStyle/>
                    <a:p>
                      <a:pPr algn="ctr">
                        <a:lnSpc>
                          <a:spcPct val="107000"/>
                        </a:lnSpc>
                        <a:spcAft>
                          <a:spcPts val="800"/>
                        </a:spcAft>
                        <a:buNone/>
                      </a:pPr>
                      <a:endParaRPr lang="en-IN"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buNone/>
                      </a:pPr>
                      <a:r>
                        <a:rPr lang="en-IN" sz="1200" kern="100">
                          <a:effectLst/>
                        </a:rPr>
                        <a:t> </a:t>
                      </a:r>
                      <a:endParaRPr lang="en-IN"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buNone/>
                      </a:pPr>
                      <a:r>
                        <a:rPr lang="en-IN" sz="1200" kern="100" dirty="0">
                          <a:effectLst/>
                        </a:rPr>
                        <a:t> </a:t>
                      </a:r>
                      <a:endParaRPr lang="en-IN"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r>
              <a:tr h="375567">
                <a:tc gridSpan="2">
                  <a:txBody>
                    <a:bodyPr/>
                    <a:lstStyle/>
                    <a:p>
                      <a:pPr algn="ctr">
                        <a:lnSpc>
                          <a:spcPct val="107000"/>
                        </a:lnSpc>
                        <a:spcAft>
                          <a:spcPts val="800"/>
                        </a:spcAft>
                        <a:buNone/>
                      </a:pPr>
                      <a:r>
                        <a:rPr lang="en-IN" sz="1200" kern="100">
                          <a:effectLst/>
                        </a:rPr>
                        <a:t>Name of the Guide</a:t>
                      </a:r>
                      <a:endParaRPr lang="en-IN" sz="11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hMerge="1">
                  <a:tcPr/>
                </a:tc>
                <a:tc>
                  <a:txBody>
                    <a:bodyPr/>
                    <a:lstStyle/>
                    <a:p>
                      <a:pPr algn="ctr">
                        <a:lnSpc>
                          <a:spcPct val="107000"/>
                        </a:lnSpc>
                        <a:spcAft>
                          <a:spcPts val="800"/>
                        </a:spcAft>
                        <a:buNone/>
                      </a:pPr>
                      <a:r>
                        <a:rPr lang="en-GB" sz="1200" dirty="0">
                          <a:solidFill>
                            <a:srgbClr val="FF0000"/>
                          </a:solidFill>
                          <a:latin typeface="Times New Roman" panose="02020603050405020304" pitchFamily="18" charset="0"/>
                          <a:cs typeface="Times New Roman" panose="02020603050405020304" pitchFamily="18" charset="0"/>
                        </a:rPr>
                        <a:t>Dr. Shirisha</a:t>
                      </a:r>
                      <a:r>
                        <a:rPr lang="en-IN" sz="1200" kern="100" dirty="0">
                          <a:effectLst/>
                        </a:rPr>
                        <a:t> </a:t>
                      </a:r>
                      <a:endParaRPr lang="en-IN"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r>
            </a:tbl>
          </a:graphicData>
        </a:graphic>
      </p:graphicFrame>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6200" y="27830"/>
            <a:ext cx="2499986" cy="12530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Abstract</a:t>
            </a:r>
            <a:endParaRPr lang="en-US" sz="2800" dirty="0"/>
          </a:p>
        </p:txBody>
      </p:sp>
      <p:sp>
        <p:nvSpPr>
          <p:cNvPr id="5" name="Content Placeholder 4"/>
          <p:cNvSpPr>
            <a:spLocks noGrp="1"/>
          </p:cNvSpPr>
          <p:nvPr>
            <p:ph idx="1"/>
          </p:nvPr>
        </p:nvSpPr>
        <p:spPr>
          <a:xfrm>
            <a:off x="457200" y="1417639"/>
            <a:ext cx="8229600" cy="4708526"/>
          </a:xfrm>
        </p:spPr>
        <p:txBody>
          <a:bodyPr>
            <a:normAutofit lnSpcReduction="10000"/>
          </a:bodyPr>
          <a:lstStyle/>
          <a:p>
            <a:pPr marL="0" indent="0" algn="just">
              <a:buNone/>
            </a:pPr>
            <a:r>
              <a:rPr lang="en-US" altLang="en-US" sz="2000" dirty="0">
                <a:latin typeface="Times New Roman" panose="02020603050405020304" pitchFamily="18" charset="0"/>
                <a:cs typeface="Times New Roman" panose="02020603050405020304" pitchFamily="18" charset="0"/>
              </a:rPr>
              <a:t>Music streaming platforms and independent artists often encounter challenges in managing large-scale telemetry data, tracking listener engagement, and identifying emerging industry trends, which can lead to missed promotional opportunities, inaccurate content targeting, and delayed strategic decisions. This project proposes a **comprehensive music platform analytics dashboard with integrated AI insights and predictive modeling features** to address these issues. The application enables stakeholders to seamlessly monitor overview metrics, view real-time artist and song performance, and analyze listener behavior, while also offering advanced features such as **dynamic skip-rate tracking, completion-rate evaluations, genre popularity trend mapping, automated natural language business highlights, and machine learning-driven recommendations for upcoming tracks and artist growth**. By combining descriptive analytics, real-time telemetry processing, and predictive intelligence into a single platform, the system aims to enhance data accessibility, improve content discovery efficiency, reduce listener churn, and ensure timely strategic decision-making in the competitive streaming industry.</a:t>
            </a:r>
            <a:endParaRPr lang="en-US" altLang="en-US" sz="20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Introduction</a:t>
            </a:r>
            <a:endParaRPr lang="en-US" sz="2800"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457200" y="1676400"/>
            <a:ext cx="8229600" cy="4525963"/>
          </a:xfrm>
        </p:spPr>
        <p:txBody>
          <a:bodyPr>
            <a:noAutofit/>
          </a:bodyPr>
          <a:lstStyle/>
          <a:p>
            <a:pPr marL="0" indent="0" algn="just">
              <a:buNone/>
            </a:pPr>
            <a:r>
              <a:rPr lang="en-US" altLang="en-US" sz="1900" dirty="0">
                <a:latin typeface="Times New Roman" panose="02020603050405020304" pitchFamily="18" charset="0"/>
                <a:cs typeface="Times New Roman" panose="02020603050405020304" pitchFamily="18" charset="0"/>
              </a:rPr>
              <a:t>Efficient data-driven decision-making in the music streaming ecosystem depends on reliable telemetry analysis, real-time listener engagement tracking, and timely trend identification. However, many music platforms and independent artists still rely on manual or fragmented data tools, causing delays, miscommunication, and missed promotional opportunities. In competitive streaming environments, stakeholders often face difficulties interpreting large-scale streaming logs or forecasting audience growth, which can lead to inaccurate content targeting and critical strategic risks. To overcome these challenges, this project introduces a **comprehensive music platform analytics dashboard with integrated AI insights and predictive modeling features**. The system provides stakeholders with an easy-to-use platform for monitoring macro-level overview metrics, checking artist and song performance, and analyzing listener behavior, while also integrating advanced features such as **dynamic skip-rate tracking, completion-rate evaluations, genre popularity trend mapping, automated natural language business highlights, and machine learning-driven recommendations for upcoming tracks and artist growth**. This solution aims to improve data accessibility, reduce listener churn, and ensure faster strategic decision-making when needed.</a:t>
            </a:r>
            <a:endParaRPr lang="en-US" altLang="en-US" sz="19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3311</Words>
  <Application>WPS Presentation</Application>
  <PresentationFormat>On-screen Show (4:3)</PresentationFormat>
  <Paragraphs>70</Paragraphs>
  <Slides>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vt:i4>
      </vt:variant>
    </vt:vector>
  </HeadingPairs>
  <TitlesOfParts>
    <vt:vector size="14" baseType="lpstr">
      <vt:lpstr>Arial</vt:lpstr>
      <vt:lpstr>SimSun</vt:lpstr>
      <vt:lpstr>Wingdings</vt:lpstr>
      <vt:lpstr>Times New Roman</vt:lpstr>
      <vt:lpstr>Aptos</vt:lpstr>
      <vt:lpstr>Segoe UI</vt:lpstr>
      <vt:lpstr>Calibri</vt:lpstr>
      <vt:lpstr>Microsoft YaHei</vt:lpstr>
      <vt:lpstr>Arial Unicode MS</vt:lpstr>
      <vt:lpstr>Office Theme</vt:lpstr>
      <vt:lpstr> A Project Review Meeting-1    on Music Analytics Data Platform</vt:lpstr>
      <vt:lpstr>PowerPoint 演示文稿</vt:lpstr>
      <vt:lpstr>Abstract</vt:lpstr>
      <vt:lpstr>Introduction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prems</cp:lastModifiedBy>
  <cp:revision>211</cp:revision>
  <dcterms:created xsi:type="dcterms:W3CDTF">2006-08-16T00:00:00Z</dcterms:created>
  <dcterms:modified xsi:type="dcterms:W3CDTF">2026-08-18T08:48:58Z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572B6D5C97FD4F31A9B520DCEC775025_12</vt:lpwstr>
  </property>
</Properties>
</file>